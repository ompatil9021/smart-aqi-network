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Delhi-NCR Population by AQI Risk (2025)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092-4E8A-951D-ACCAC7C70739}"/>
              </c:ext>
            </c:extLst>
          </c:dPt>
          <c:dPt>
            <c:idx val="1"/>
            <c:bubble3D val="0"/>
            <c:spPr>
              <a:solidFill>
                <a:srgbClr val="F57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92-4E8A-951D-ACCAC7C70739}"/>
              </c:ext>
            </c:extLst>
          </c:dPt>
          <c:dPt>
            <c:idx val="2"/>
            <c:bubble3D val="0"/>
            <c:spPr>
              <a:solidFill>
                <a:srgbClr val="0F9D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92-4E8A-951D-ACCAC7C7073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92-4E8A-951D-ACCAC7C7073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92-4E8A-951D-ACCAC7C7073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92-4E8A-951D-ACCAC7C7073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Critically Affected</c:v>
                </c:pt>
                <c:pt idx="1">
                  <c:v>Moderate Risk</c:v>
                </c:pt>
                <c:pt idx="2">
                  <c:v>Low 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42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092-4E8A-951D-ACCAC7C70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Model Performance Metrics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E80-4421-BF0B-A17FDEE08515}"/>
              </c:ext>
            </c:extLst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E80-4421-BF0B-A17FDEE08515}"/>
              </c:ext>
            </c:extLst>
          </c:dPt>
          <c:dPt>
            <c:idx val="2"/>
            <c:invertIfNegative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E80-4421-BF0B-A17FDEE08515}"/>
              </c:ext>
            </c:extLst>
          </c:dPt>
          <c:dPt>
            <c:idx val="3"/>
            <c:invertIfNegative val="0"/>
            <c:bubble3D val="0"/>
            <c:spPr>
              <a:solidFill>
                <a:srgbClr val="0F9D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E80-4421-BF0B-A17FDEE0851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R² Score
(Accuracy)</c:v>
                </c:pt>
                <c:pt idx="1">
                  <c:v>Data Precision
(Normalized)</c:v>
                </c:pt>
                <c:pt idx="2">
                  <c:v>Model Stability
(Normalized)</c:v>
                </c:pt>
                <c:pt idx="3">
                  <c:v>Alert Speed
(Normalized)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98.22</c:v>
                </c:pt>
                <c:pt idx="1">
                  <c:v>94.5</c:v>
                </c:pt>
                <c:pt idx="2">
                  <c:v>91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E80-4421-BF0B-A17FDEE085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Cost Comparison per Zone (₹ Lakhs/Year)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(₹ Lakhs)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AB3-4C4E-A50A-8B17766C4646}"/>
              </c:ext>
            </c:extLst>
          </c:dPt>
          <c:dPt>
            <c:idx val="1"/>
            <c:invertIfNegative val="0"/>
            <c:bubble3D val="0"/>
            <c:spPr>
              <a:solidFill>
                <a:srgbClr val="F57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B3-4C4E-A50A-8B17766C4646}"/>
              </c:ext>
            </c:extLst>
          </c:dPt>
          <c:dPt>
            <c:idx val="2"/>
            <c:invertIfNegative val="0"/>
            <c:bubble3D val="0"/>
            <c:spPr>
              <a:solidFill>
                <a:srgbClr val="0F9D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B3-4C4E-A50A-8B17766C464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Govt AQI
Station</c:v>
                </c:pt>
                <c:pt idx="1">
                  <c:v>Commercial
SaaS</c:v>
                </c:pt>
                <c:pt idx="2">
                  <c:v>Yukti
(Proposed)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12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B3-4C4E-A50A-8B17766C46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272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D39AA-F712-417B-7AC1-FE2D7DE65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DCC51-679A-7CF6-BCB8-47FE527A6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A3B19-EAFD-84AC-581F-FBD0BF658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D256F-7CC5-6C1C-6260-643E3ACE65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72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274320"/>
            <a:ext cx="2286000" cy="2286000"/>
          </a:xfrm>
          <a:prstGeom prst="ellipse">
            <a:avLst/>
          </a:prstGeom>
          <a:solidFill>
            <a:srgbClr val="42A5F5">
              <a:alpha val="1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011680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 &amp; Innovation Sprint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800" dirty="0">
                <a:solidFill>
                  <a:srgbClr val="FFFFFF"/>
                </a:solidFill>
              </a:rPr>
              <a:t>YUKTI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0CAF9"/>
                </a:solidFill>
              </a:rPr>
              <a:t>Smart Air Quality Index Monitoring &amp; Forecasting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22860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</a:rPr>
              <a:t>98%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Forecast Accuracy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</a:rPr>
              <a:t>15+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01752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Sensor Zones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</a:rPr>
              <a:t>48h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57784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</a:rPr>
              <a:t>AQI Predictions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Team B246  ·  B.Tech C.E. &amp; MBA Tech C.E.  ·  3rd Year  ·  26 Feb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/  PROBLEM STATEMENT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73152" cy="1170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961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Resolution Gap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Single AQI value for a 10km radius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Ignores street-level variations entirely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402336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48840"/>
            <a:ext cx="73152" cy="1170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21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Predictive Gap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Only shows historical city-level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 hyperlocal short-term forecasts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474720"/>
            <a:ext cx="402336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474720"/>
            <a:ext cx="73152" cy="11704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Interaction Gap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 simulation or What-If 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Admins can't test pollution scenarios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754880" y="77724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320040" y="4446597"/>
            <a:ext cx="8503920" cy="594360"/>
          </a:xfrm>
          <a:prstGeom prst="rect">
            <a:avLst/>
          </a:prstGeom>
          <a:solidFill>
            <a:srgbClr val="E3F0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" y="4464885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</a:rPr>
              <a:t>🏙  Urban air pollution causes 1.67 million deaths annually in India — yet most citizens have NO real-time street-level data.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/  EXISTING GAPS &amp; COMPETITIVE ANALYSIS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975194"/>
              </p:ext>
            </p:extLst>
          </p:nvPr>
        </p:nvGraphicFramePr>
        <p:xfrm>
          <a:off x="320040" y="777240"/>
          <a:ext cx="8595360" cy="3200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SAFAR-India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AQI.in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PurpleAir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D700"/>
                          </a:solidFill>
                        </a:rPr>
                        <a:t>Yukti ✦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Street-Level Resolution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✗ City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✗ City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9D58"/>
                          </a:solidFill>
                        </a:rPr>
                        <a:t>✓ Partial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✓✓ Street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AI Forecasting (48h)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✗ None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✗ None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✗ None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✓ 98% R²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Digital Twin Simulation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✓ Simulation Mode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Real-Time Alerts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9D58"/>
                          </a:solidFill>
                        </a:rPr>
                        <a:t>✓ Basic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9D58"/>
                          </a:solidFill>
                        </a:rPr>
                        <a:t>✓ Basic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✓✓ Hyperlocal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Open-Source / Low Cost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✗ Govt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9D58"/>
                          </a:solidFill>
                        </a:rPr>
                        <a:t>✓ Partial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✓✓ Zero Cost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160520"/>
            <a:ext cx="1371600" cy="27432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20040" y="44805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</a:rPr>
              <a:t>No existing platform combines street-level sensor simulation + ML forecasting + hyperlocal push notifications in one integrated system.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/  PROPOSED AI SOLUTION — YUKTI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7432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777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📡  INPUT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" y="1627632"/>
            <a:ext cx="164592" cy="164592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IoT Sensors (PM2.5, PM10, CO, NO2)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" y="2322576"/>
            <a:ext cx="164592" cy="164592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94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Historical Delhi-NCR Dataset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" y="3017520"/>
            <a:ext cx="164592" cy="164592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443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Temporal Features (Hour, Month)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2606040"/>
            <a:ext cx="18288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2990088" y="2487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54680" y="77724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777240"/>
            <a:ext cx="27432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777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PROCESSING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19272" y="1627632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1554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24h Moving Average Smoothing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9272" y="2322576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22494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Random Forest Regressor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9272" y="3017520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29443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Lag Feature Engineering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9272" y="3712464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6393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0.9822 R² Accuracy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97880" y="2606040"/>
            <a:ext cx="18288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5916168" y="2487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80760" y="77724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777240"/>
            <a:ext cx="2743200" cy="685800"/>
          </a:xfrm>
          <a:prstGeom prst="rect">
            <a:avLst/>
          </a:prstGeom>
          <a:solidFill>
            <a:srgbClr val="0F9D58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777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OUTPUT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45352" y="1627632"/>
            <a:ext cx="164592" cy="164592"/>
          </a:xfrm>
          <a:prstGeom prst="ellipse">
            <a:avLst/>
          </a:prstGeom>
          <a:solidFill>
            <a:srgbClr val="0F9D58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1554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6h / 24h / 48h AQI Forecast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45352" y="2322576"/>
            <a:ext cx="164592" cy="164592"/>
          </a:xfrm>
          <a:prstGeom prst="ellipse">
            <a:avLst/>
          </a:prstGeom>
          <a:solidFill>
            <a:srgbClr val="0F9D58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22494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Color-coded Map Zones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45352" y="3017520"/>
            <a:ext cx="164592" cy="164592"/>
          </a:xfrm>
          <a:prstGeom prst="ellipse">
            <a:avLst/>
          </a:prstGeom>
          <a:solidFill>
            <a:srgbClr val="0F9D58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29443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Push Notifications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45352" y="3712464"/>
            <a:ext cx="164592" cy="164592"/>
          </a:xfrm>
          <a:prstGeom prst="ellipse">
            <a:avLst/>
          </a:prstGeom>
          <a:solidFill>
            <a:srgbClr val="0F9D58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36393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Digital Twin Simulation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4773168"/>
            <a:ext cx="8686800" cy="201168"/>
          </a:xfrm>
          <a:prstGeom prst="rect">
            <a:avLst/>
          </a:prstGeom>
          <a:solidFill>
            <a:srgbClr val="E3F0FF"/>
          </a:solidFill>
          <a:ln/>
        </p:spPr>
      </p:sp>
      <p:sp>
        <p:nvSpPr>
          <p:cNvPr id="40" name="Text 38"/>
          <p:cNvSpPr/>
          <p:nvPr/>
        </p:nvSpPr>
        <p:spPr>
          <a:xfrm>
            <a:off x="228600" y="4773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Yukti = Digital Twin Layer + AI Predictive Engine + Hyperlocal Notification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  /  SYSTEM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3200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1 — IoT / DATA INGESTION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97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Real Sensors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(PMS5003)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01952" y="1344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897B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29968" y="109728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29968" y="1097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/>
              <a:t>Simulated </a:t>
            </a:r>
            <a:r>
              <a:rPr lang="en-US" sz="900"/>
              <a:t>Environment </a:t>
            </a:r>
          </a:p>
          <a:p>
            <a:pPr algn="ctr"/>
            <a:r>
              <a:rPr lang="en-US" sz="900">
                <a:solidFill>
                  <a:srgbClr val="0D1B2A"/>
                </a:solidFill>
              </a:rPr>
              <a:t>Controller </a:t>
            </a:r>
            <a:r>
              <a:rPr lang="en-US" sz="900" dirty="0">
                <a:solidFill>
                  <a:srgbClr val="0D1B2A"/>
                </a:solidFill>
              </a:rPr>
              <a:t>(Flask)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23360" y="1344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897B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51376" y="1097280"/>
            <a:ext cx="1737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51376" y="1097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Historical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Dataset (OGD)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70448" y="1344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897B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98464" y="1097280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98464" y="1097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Manual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Injection API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0" y="19019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28600" y="2148840"/>
            <a:ext cx="8686800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148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2 — SERVER / AI ENGINE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496312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249631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Flask REST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API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01952" y="2743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565C0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29968" y="2496312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29968" y="249631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Random Forest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Regressor (sklearn)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7680" y="2743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565C0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25696" y="2496312"/>
            <a:ext cx="1554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25696" y="249631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SQLite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Database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61888" y="27432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565C0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9904" y="2496312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89904" y="24963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Web Push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Notification API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33009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↕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28600" y="3547872"/>
            <a:ext cx="868680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35478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3 — USER INTERFACE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895344"/>
            <a:ext cx="1737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" y="389534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React.js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Dashboard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93392" y="41422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121408" y="3895344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121408" y="389534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Leaflet.js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Map + Radar Zones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06240" y="41422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34256" y="3895344"/>
            <a:ext cx="1737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334256" y="389534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Recharts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Forecast Graph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41422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81344" y="3895344"/>
            <a:ext cx="1463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181344" y="3895344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Mobile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Alerts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28600" y="480060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All layers communicate via RESTful APIs — designed for Docker containerization and horizontal scaling.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  /  TECHNICAL METHODOLOGY &amp; MODEL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31520"/>
            <a:ext cx="73152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795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0607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Delhi-NCR Hourly AQI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2019–2024 (OGD + Kaggle)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83080"/>
            <a:ext cx="73152" cy="9144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47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Algorithm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122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Random Forest Regressor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(Scikit-Learn)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34640"/>
            <a:ext cx="73152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98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Train/Test Split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1638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80% Training / 20% Testing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Chronological (no data leakage)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88620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886200"/>
            <a:ext cx="73152" cy="91440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50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2153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24h Moving Average · Linear Interpolation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Min-Max Normalization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572000" y="713232"/>
          <a:ext cx="42519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</a:rPr>
              <a:t>R² = 0.9822  </a:t>
            </a:r>
            <a:r>
              <a:rPr lang="en-US" sz="1100" dirty="0">
                <a:solidFill>
                  <a:srgbClr val="FFFFFF"/>
                </a:solidFill>
              </a:rPr>
              <a:t>·  RMSE ≈ 4.5 AQI units  ·  MAE: Minimal Deviation from Ground Truth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136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164054" y="-320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  /  PROTOTYPE DEMO — LIVE SYSTEM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" y="3840480"/>
            <a:ext cx="8686800" cy="1024128"/>
          </a:xfrm>
          <a:prstGeom prst="rect">
            <a:avLst/>
          </a:prstGeom>
          <a:solidFill>
            <a:srgbClr val="E3F0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840480"/>
            <a:ext cx="73152" cy="10241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840480"/>
            <a:ext cx="8321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</a:rPr>
              <a:t>🔗  GitHub: github.com/Ompatil9021/Smart-AQI-Network   ·   Live prototype available for demo</a:t>
            </a:r>
            <a:endParaRPr lang="en-US" sz="11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735BF28-5A22-2BE6-FE11-2DA990B50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43" t="13735" r="6970"/>
          <a:stretch>
            <a:fillRect/>
          </a:stretch>
        </p:blipFill>
        <p:spPr>
          <a:xfrm>
            <a:off x="60514" y="860611"/>
            <a:ext cx="4511486" cy="266652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CB3C667-162E-75FA-B8F0-A3814B5F2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684" y="859837"/>
            <a:ext cx="4430803" cy="26672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578CD-8780-0208-7369-38C5E29AD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B6F040-7107-FD1C-003F-A957044F62DA}"/>
              </a:ext>
            </a:extLst>
          </p:cNvPr>
          <p:cNvSpPr/>
          <p:nvPr/>
        </p:nvSpPr>
        <p:spPr>
          <a:xfrm>
            <a:off x="0" y="-16136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AB971A-B66D-B55F-9DEF-ADD53F1CED81}"/>
              </a:ext>
            </a:extLst>
          </p:cNvPr>
          <p:cNvSpPr/>
          <p:nvPr/>
        </p:nvSpPr>
        <p:spPr>
          <a:xfrm>
            <a:off x="164054" y="-320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  /  PROTOTYPE DEMO — LIVE SYSTEM</a:t>
            </a:r>
            <a:endParaRPr lang="en-US" sz="13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AA2598B-BA8A-70E8-D063-6CF4BE6B05A5}"/>
              </a:ext>
            </a:extLst>
          </p:cNvPr>
          <p:cNvSpPr/>
          <p:nvPr/>
        </p:nvSpPr>
        <p:spPr>
          <a:xfrm>
            <a:off x="228600" y="3840480"/>
            <a:ext cx="8686800" cy="1024128"/>
          </a:xfrm>
          <a:prstGeom prst="rect">
            <a:avLst/>
          </a:prstGeom>
          <a:solidFill>
            <a:srgbClr val="E3F0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E41DA41-8B7B-5198-069C-577AFEC9F2A5}"/>
              </a:ext>
            </a:extLst>
          </p:cNvPr>
          <p:cNvSpPr/>
          <p:nvPr/>
        </p:nvSpPr>
        <p:spPr>
          <a:xfrm>
            <a:off x="228600" y="3840480"/>
            <a:ext cx="73152" cy="10241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A7EC56F-1F0E-871D-6FF6-935A67FCB4FF}"/>
              </a:ext>
            </a:extLst>
          </p:cNvPr>
          <p:cNvSpPr/>
          <p:nvPr/>
        </p:nvSpPr>
        <p:spPr>
          <a:xfrm>
            <a:off x="457200" y="3840480"/>
            <a:ext cx="8321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</a:rPr>
              <a:t>🔗  GitHub: github.com/Ompatil9021/Smart-AQI-Network   ·   Live prototype available for demo</a:t>
            </a:r>
            <a:endParaRPr lang="en-US" sz="11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F90D6CB-1EE3-5EFB-5DFD-5C39520AD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047" y="739981"/>
            <a:ext cx="5351929" cy="300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35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  /  SUSTAINABILITY &amp; ENVIRONMENTAL IMPACT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49808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822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Personal Exposure Reduction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1521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via Clean Air Window alerts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749808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9D58"/>
                </a:solidFill>
              </a:rPr>
              <a:t>↓ 30%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1773936"/>
            <a:ext cx="41148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773936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1847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Infrastructure Cost Saving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cheaper than govt stations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773936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</a:rPr>
              <a:t>10×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74320" y="2798064"/>
            <a:ext cx="41148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798064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28712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License Cost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100% open-source stack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798064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897B"/>
                </a:solidFill>
              </a:rPr>
              <a:t>₹ 0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74320" y="3822192"/>
            <a:ext cx="41148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822192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38953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Behavioral Change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EV/transit on high-AQI days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822192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7C00"/>
                </a:solidFill>
              </a:rPr>
              <a:t>Nudge</a:t>
            </a:r>
            <a:endParaRPr lang="en-US" sz="20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4663440" y="749808"/>
          <a:ext cx="4114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6" name="Text 23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9D58"/>
                </a:solidFill>
              </a:rPr>
              <a:t>🌱  Sector-replicable: Water Quality, Industrial Waste, Smart Agriculture — same Digital Twin + AI architecture.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  /  TECHNOLOGY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029968" cy="1170432"/>
          </a:xfrm>
          <a:prstGeom prst="rect">
            <a:avLst/>
          </a:prstGeom>
          <a:solidFill>
            <a:srgbClr val="E8F9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41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⚛️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8412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React.js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527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Frontend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029968" cy="9144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749808"/>
            <a:ext cx="2029968" cy="1170432"/>
          </a:xfrm>
          <a:prstGeom prst="rect">
            <a:avLst/>
          </a:prstGeom>
          <a:solidFill>
            <a:srgbClr val="EFF9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841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99232" y="8412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Tailwind CSS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99232" y="12527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Styling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50592" y="1828800"/>
            <a:ext cx="2029968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626864" y="749808"/>
            <a:ext cx="2029968" cy="1170432"/>
          </a:xfrm>
          <a:prstGeom prst="rect">
            <a:avLst/>
          </a:prstGeom>
          <a:solidFill>
            <a:srgbClr val="EBF5E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841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75504" y="8412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Leaflet.js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75504" y="12527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Mapping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26864" y="1828800"/>
            <a:ext cx="2029968" cy="91440"/>
          </a:xfrm>
          <a:prstGeom prst="rect">
            <a:avLst/>
          </a:prstGeom>
          <a:solidFill>
            <a:srgbClr val="1999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03136" y="749808"/>
            <a:ext cx="2029968" cy="1170432"/>
          </a:xfrm>
          <a:prstGeom prst="rect">
            <a:avLst/>
          </a:prstGeom>
          <a:solidFill>
            <a:srgbClr val="EBF2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03136" y="841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51776" y="8412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Recharts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51776" y="12527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Data Viz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03136" y="1828800"/>
            <a:ext cx="2029968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2075688"/>
            <a:ext cx="2029968" cy="1170432"/>
          </a:xfrm>
          <a:prstGeom prst="rect">
            <a:avLst/>
          </a:prstGeom>
          <a:solidFill>
            <a:srgbClr val="EBF2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2960" y="21671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Python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Backend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154680"/>
            <a:ext cx="2029968" cy="914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2075688"/>
            <a:ext cx="2029968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450592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🌶️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999232" y="21671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Flask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99232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API Framework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50592" y="3154680"/>
            <a:ext cx="2029968" cy="914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4626864" y="2075688"/>
            <a:ext cx="2029968" cy="1170432"/>
          </a:xfrm>
          <a:prstGeom prst="rect">
            <a:avLst/>
          </a:prstGeom>
          <a:solidFill>
            <a:srgbClr val="FEF5E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26864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175504" y="21671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Scikit-Learn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75504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26864" y="3154680"/>
            <a:ext cx="2029968" cy="91440"/>
          </a:xfrm>
          <a:prstGeom prst="rect">
            <a:avLst/>
          </a:prstGeom>
          <a:solidFill>
            <a:srgbClr val="F89939"/>
          </a:solidFill>
          <a:ln/>
        </p:spPr>
      </p:sp>
      <p:sp>
        <p:nvSpPr>
          <p:cNvPr id="39" name="Shape 37"/>
          <p:cNvSpPr/>
          <p:nvPr/>
        </p:nvSpPr>
        <p:spPr>
          <a:xfrm>
            <a:off x="6803136" y="2075688"/>
            <a:ext cx="2029968" cy="1170432"/>
          </a:xfrm>
          <a:prstGeom prst="rect">
            <a:avLst/>
          </a:prstGeom>
          <a:solidFill>
            <a:srgbClr val="EEE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03136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351776" y="21671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Pandas &amp; NumPy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51776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Data Processing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03136" y="3154680"/>
            <a:ext cx="2029968" cy="91440"/>
          </a:xfrm>
          <a:prstGeom prst="rect">
            <a:avLst/>
          </a:prstGeom>
          <a:solidFill>
            <a:srgbClr val="150458"/>
          </a:solidFill>
          <a:ln/>
        </p:spPr>
      </p:sp>
      <p:sp>
        <p:nvSpPr>
          <p:cNvPr id="44" name="Shape 42"/>
          <p:cNvSpPr/>
          <p:nvPr/>
        </p:nvSpPr>
        <p:spPr>
          <a:xfrm>
            <a:off x="274320" y="3401568"/>
            <a:ext cx="2029968" cy="1170432"/>
          </a:xfrm>
          <a:prstGeom prst="rect">
            <a:avLst/>
          </a:prstGeom>
          <a:solidFill>
            <a:srgbClr val="E8EEF1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4320" y="3493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822960" y="34930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SQLite3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" y="3904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Database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480560"/>
            <a:ext cx="2029968" cy="91440"/>
          </a:xfrm>
          <a:prstGeom prst="rect">
            <a:avLst/>
          </a:prstGeom>
          <a:solidFill>
            <a:srgbClr val="003B57"/>
          </a:solidFill>
          <a:ln/>
        </p:spPr>
      </p:sp>
      <p:sp>
        <p:nvSpPr>
          <p:cNvPr id="49" name="Shape 47"/>
          <p:cNvSpPr/>
          <p:nvPr/>
        </p:nvSpPr>
        <p:spPr>
          <a:xfrm>
            <a:off x="2450592" y="3401568"/>
            <a:ext cx="2029968" cy="1170432"/>
          </a:xfrm>
          <a:prstGeom prst="rect">
            <a:avLst/>
          </a:prstGeom>
          <a:solidFill>
            <a:srgbClr val="FEF5E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450592" y="3493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2999232" y="34930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Web Push API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999232" y="3904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Notifications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450592" y="4480560"/>
            <a:ext cx="2029968" cy="9144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4" name="Shape 52"/>
          <p:cNvSpPr/>
          <p:nvPr/>
        </p:nvSpPr>
        <p:spPr>
          <a:xfrm>
            <a:off x="4626864" y="3401568"/>
            <a:ext cx="2029968" cy="1170432"/>
          </a:xfrm>
          <a:prstGeom prst="rect">
            <a:avLst/>
          </a:prstGeom>
          <a:solidFill>
            <a:srgbClr val="F2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626864" y="3493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🐙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5175504" y="34930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Git &amp; GitHub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75504" y="3904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DevOps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26864" y="4480560"/>
            <a:ext cx="2029968" cy="91440"/>
          </a:xfrm>
          <a:prstGeom prst="rect">
            <a:avLst/>
          </a:prstGeom>
          <a:solidFill>
            <a:srgbClr val="181717"/>
          </a:solidFill>
          <a:ln/>
        </p:spPr>
      </p:sp>
      <p:sp>
        <p:nvSpPr>
          <p:cNvPr id="59" name="Shape 57"/>
          <p:cNvSpPr/>
          <p:nvPr/>
        </p:nvSpPr>
        <p:spPr>
          <a:xfrm>
            <a:off x="6803136" y="3401568"/>
            <a:ext cx="2029968" cy="1170432"/>
          </a:xfrm>
          <a:prstGeom prst="rect">
            <a:avLst/>
          </a:prstGeom>
          <a:solidFill>
            <a:srgbClr val="E8F4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803136" y="3493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7351776" y="34930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VS Code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351776" y="3904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IDE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803136" y="4480560"/>
            <a:ext cx="2029968" cy="91440"/>
          </a:xfrm>
          <a:prstGeom prst="rect">
            <a:avLst/>
          </a:prstGeom>
          <a:solidFill>
            <a:srgbClr val="007ACC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  /  SCALABILITY &amp; FUTURE SCOPE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2834640" cy="16916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658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0CAF9"/>
                </a:solidFill>
              </a:rPr>
              <a:t>TRL LEVEL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" y="868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565C0"/>
                </a:solidFill>
              </a:rPr>
              <a:t>4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82880" y="16276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Lab Validation</a:t>
            </a:r>
            <a:br>
              <a:rPr lang="en-US" sz="800" dirty="0">
                <a:solidFill>
                  <a:srgbClr val="FFFFFF"/>
                </a:solidFill>
              </a:rPr>
            </a:br>
            <a:r>
              <a:rPr lang="en-US" sz="800" dirty="0">
                <a:solidFill>
                  <a:srgbClr val="FFFFFF"/>
                </a:solidFill>
              </a:rPr>
              <a:t>Prototype tested in Controlled Environment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2350008"/>
            <a:ext cx="2834640" cy="18288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9" name="Shape 7"/>
          <p:cNvSpPr/>
          <p:nvPr/>
        </p:nvSpPr>
        <p:spPr>
          <a:xfrm>
            <a:off x="219456" y="2368296"/>
            <a:ext cx="274320" cy="14630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Shape 8"/>
          <p:cNvSpPr/>
          <p:nvPr/>
        </p:nvSpPr>
        <p:spPr>
          <a:xfrm>
            <a:off x="525780" y="2368296"/>
            <a:ext cx="274320" cy="14630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Shape 9"/>
          <p:cNvSpPr/>
          <p:nvPr/>
        </p:nvSpPr>
        <p:spPr>
          <a:xfrm>
            <a:off x="832104" y="2368296"/>
            <a:ext cx="274320" cy="14630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8428" y="2368296"/>
            <a:ext cx="274320" cy="14630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Shape 12"/>
          <p:cNvSpPr/>
          <p:nvPr/>
        </p:nvSpPr>
        <p:spPr>
          <a:xfrm>
            <a:off x="1751076" y="2368296"/>
            <a:ext cx="274320" cy="146304"/>
          </a:xfrm>
          <a:prstGeom prst="rect">
            <a:avLst/>
          </a:prstGeom>
          <a:solidFill>
            <a:srgbClr val="243348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2368296"/>
            <a:ext cx="274320" cy="146304"/>
          </a:xfrm>
          <a:prstGeom prst="rect">
            <a:avLst/>
          </a:prstGeom>
          <a:solidFill>
            <a:srgbClr val="243348"/>
          </a:solidFill>
          <a:ln/>
        </p:spPr>
      </p:sp>
      <p:sp>
        <p:nvSpPr>
          <p:cNvPr id="16" name="Shape 14"/>
          <p:cNvSpPr/>
          <p:nvPr/>
        </p:nvSpPr>
        <p:spPr>
          <a:xfrm>
            <a:off x="2363724" y="2368296"/>
            <a:ext cx="274320" cy="146304"/>
          </a:xfrm>
          <a:prstGeom prst="rect">
            <a:avLst/>
          </a:prstGeom>
          <a:solidFill>
            <a:srgbClr val="243348"/>
          </a:solidFill>
          <a:ln/>
        </p:spPr>
      </p:sp>
      <p:sp>
        <p:nvSpPr>
          <p:cNvPr id="17" name="Shape 15"/>
          <p:cNvSpPr/>
          <p:nvPr/>
        </p:nvSpPr>
        <p:spPr>
          <a:xfrm>
            <a:off x="2670048" y="2368296"/>
            <a:ext cx="274320" cy="146304"/>
          </a:xfrm>
          <a:prstGeom prst="rect">
            <a:avLst/>
          </a:prstGeom>
          <a:solidFill>
            <a:srgbClr val="243348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" y="25603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TRL 1          TRL 4 ✓          TRL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82880" y="2816352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816352"/>
            <a:ext cx="64008" cy="1005840"/>
          </a:xfrm>
          <a:prstGeom prst="rect">
            <a:avLst/>
          </a:prstGeom>
          <a:solidFill>
            <a:srgbClr val="0F9D5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834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9D58"/>
                </a:solidFill>
              </a:rPr>
              <a:t>CURRENT STATUS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" y="306324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Prototype tested in Controlled Environment  using historical Delhi-NCR datasets.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MAE: 12.1 AQI @ 6hr  |  22.6 AQI @ 24hr on holdout data.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3886200"/>
            <a:ext cx="283464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3886200"/>
            <a:ext cx="64008" cy="1024128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5" name="Text 23"/>
          <p:cNvSpPr/>
          <p:nvPr/>
        </p:nvSpPr>
        <p:spPr>
          <a:xfrm>
            <a:off x="310896" y="39136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7C00"/>
                </a:solidFill>
              </a:rPr>
              <a:t>⚖️  PATENT &amp; COMMERCIAL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4224528"/>
            <a:ext cx="91440" cy="9144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1605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Utility patent: synchronized IoT simulation + predictive health-alert triggers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4544568"/>
            <a:ext cx="91440" cy="9144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48056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B2B/B2G SaaS for municipal corps &amp; real-estate developers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46120" y="594360"/>
            <a:ext cx="571500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594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📡  SCALABILITY PLAN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886968"/>
            <a:ext cx="18470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46120" y="914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🏙️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703320" y="9326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City-Scale Ready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19272" y="1261872"/>
            <a:ext cx="1719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25 ESP32 IoT node pilot  and framework scales to any major metro area.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166360" y="886968"/>
            <a:ext cx="18470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166360" y="914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623560" y="9326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Economic Viability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39512" y="1261872"/>
            <a:ext cx="1719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10× cheaper than govt CAAQMS stations. Cloud hosting: ~₹2K/month only.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086600" y="886968"/>
            <a:ext cx="18470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086600" y="914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🔓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543800" y="9326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Open Architecture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59752" y="1261872"/>
            <a:ext cx="1719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100% open-source (Python + React). Cities can deploy, fork &amp; extend freely.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46120" y="2212848"/>
            <a:ext cx="571500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5" name="Text 43"/>
          <p:cNvSpPr/>
          <p:nvPr/>
        </p:nvSpPr>
        <p:spPr>
          <a:xfrm>
            <a:off x="3291840" y="22128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🚀  FUTURE IMPROVEMENTS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46120" y="2560320"/>
            <a:ext cx="57150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46120" y="2560320"/>
            <a:ext cx="64008" cy="7498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8" name="Text 46"/>
          <p:cNvSpPr/>
          <p:nvPr/>
        </p:nvSpPr>
        <p:spPr>
          <a:xfrm>
            <a:off x="3337560" y="25603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3840480" y="263347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Clinical Integration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840480" y="288950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HL7 FHIR APIs for automated health alerts via Apple Health &amp; Google Fit for vulnerable populations.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46120" y="3401568"/>
            <a:ext cx="57150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46120" y="3401568"/>
            <a:ext cx="64008" cy="7498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3" name="Text 51"/>
          <p:cNvSpPr/>
          <p:nvPr/>
        </p:nvSpPr>
        <p:spPr>
          <a:xfrm>
            <a:off x="3337560" y="340156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🌬️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3840480" y="347472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Environmental Expansion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840480" y="373075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Multi-modal sensors: noise pollution, humidity, wind-speed to further enhance Random Forest accuracy.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46120" y="4242816"/>
            <a:ext cx="57150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246120" y="4242816"/>
            <a:ext cx="64008" cy="74980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8" name="Text 56"/>
          <p:cNvSpPr/>
          <p:nvPr/>
        </p:nvSpPr>
        <p:spPr>
          <a:xfrm>
            <a:off x="3337560" y="424281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3840480" y="431596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Edge AI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840480" y="45720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Lightweight model deployment directly onto ESP32 nodes to eliminate server latency bottlenecks.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46120" y="5029200"/>
            <a:ext cx="5715000" cy="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1000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CAF9"/>
                </a:solidFill>
              </a:rPr>
              <a:t>Yukti: Smart Air Quality Index Monitoring &amp; Forecasting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182880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Team B246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Om Patil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56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Prem Pawar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124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Sumit Vyas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684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</a:rPr>
              <a:t>Keshav Birle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🔗  github.com/Ompatil9021/Smart-AQI-Network  ·  Team B246  ·  B.Tech C.E.  ·  3rd Year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886</Words>
  <Application>Microsoft Office PowerPoint</Application>
  <PresentationFormat>On-screen Show (16:9)</PresentationFormat>
  <Paragraphs>242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Yukti: Smart AQI Monitoring &amp; Forecasting</dc:title>
  <dc:subject>PptxGenJS Presentation</dc:subject>
  <dc:creator>Team B246</dc:creator>
  <cp:lastModifiedBy>Om Patil</cp:lastModifiedBy>
  <cp:revision>15</cp:revision>
  <dcterms:created xsi:type="dcterms:W3CDTF">2026-02-25T16:12:07Z</dcterms:created>
  <dcterms:modified xsi:type="dcterms:W3CDTF">2026-02-27T15:52:43Z</dcterms:modified>
</cp:coreProperties>
</file>